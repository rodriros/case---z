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Nunito Sans Light"/>
      <p:regular r:id="rId19"/>
      <p:bold r:id="rId20"/>
      <p:italic r:id="rId21"/>
      <p:boldItalic r:id="rId22"/>
    </p:embeddedFont>
    <p:embeddedFont>
      <p:font typeface="Exo 2"/>
      <p:regular r:id="rId23"/>
      <p:bold r:id="rId24"/>
      <p:italic r:id="rId25"/>
      <p:boldItalic r:id="rId26"/>
    </p:embeddedFont>
    <p:embeddedFont>
      <p:font typeface="Nunito Sans SemiBold"/>
      <p:regular r:id="rId27"/>
      <p:bold r:id="rId28"/>
      <p:italic r:id="rId29"/>
      <p:boldItalic r:id="rId30"/>
    </p:embeddedFont>
    <p:embeddedFont>
      <p:font typeface="Nunito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Light-bold.fntdata"/><Relationship Id="rId22" Type="http://schemas.openxmlformats.org/officeDocument/2006/relationships/font" Target="fonts/NunitoSansLight-boldItalic.fntdata"/><Relationship Id="rId21" Type="http://schemas.openxmlformats.org/officeDocument/2006/relationships/font" Target="fonts/NunitoSansLight-italic.fntdata"/><Relationship Id="rId24" Type="http://schemas.openxmlformats.org/officeDocument/2006/relationships/font" Target="fonts/Exo2-bold.fntdata"/><Relationship Id="rId23" Type="http://schemas.openxmlformats.org/officeDocument/2006/relationships/font" Target="fonts/Exo2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xo2-boldItalic.fntdata"/><Relationship Id="rId25" Type="http://schemas.openxmlformats.org/officeDocument/2006/relationships/font" Target="fonts/Exo2-italic.fntdata"/><Relationship Id="rId28" Type="http://schemas.openxmlformats.org/officeDocument/2006/relationships/font" Target="fonts/NunitoSansSemiBold-bold.fntdata"/><Relationship Id="rId27" Type="http://schemas.openxmlformats.org/officeDocument/2006/relationships/font" Target="fonts/Nunito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-regular.fntdata"/><Relationship Id="rId30" Type="http://schemas.openxmlformats.org/officeDocument/2006/relationships/font" Target="fonts/Nunito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NunitoSans-italic.fntdata"/><Relationship Id="rId10" Type="http://schemas.openxmlformats.org/officeDocument/2006/relationships/slide" Target="slides/slide5.xml"/><Relationship Id="rId32" Type="http://schemas.openxmlformats.org/officeDocument/2006/relationships/font" Target="fonts/Nunito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Nunito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Sans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2202fb35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2202fb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2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82266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Modernização 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 ZoeNLU Enterprise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13708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Evolução Técnica &amp; Estratégica do Ecossistema Salesforce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66183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Roleplay: Desenvolvedor JR - V1.0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42875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4287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719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417195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4171950"/>
            <a:ext cx="34924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44234" y="26384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Diagnóstico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057525"/>
            <a:ext cx="280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Os 3 desafios críticos da Zoe atual e o impacto nos leads.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22382" y="263842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Arquitetura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92550" y="3057525"/>
            <a:ext cx="280674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O ecossistema integrado: Zenvia, Gemini e Salesforce.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00685" y="26384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Soluções A, B &amp; C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70850" y="3057525"/>
            <a:ext cx="280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Fim da amnésia, visibilidade comercial e qualificação IA.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4234" y="53816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Métricas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5800725"/>
            <a:ext cx="280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Indicadores de sucesso e ROI esperado da solução.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22382" y="538162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Roadmap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92550" y="5800725"/>
            <a:ext cx="280674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Cronograma de implementação em fases e quick wins.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00685" y="53816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Q&amp;A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70850" y="5800725"/>
            <a:ext cx="28066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Discussão técnica e próximos passos do projeto.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18383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101" y="18383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550" y="1838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45815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95826" y="45815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8400" y="45815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Agenda da Apresentação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9800"/>
            <a:ext cx="34924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09800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09800"/>
            <a:ext cx="34924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44234" y="341947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Amnésia da Zoe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3838575"/>
            <a:ext cx="2806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O bot não reconhece que o envio do link concluiu a etapa, gerando perguntas redundantes e quebrando a confiança do usuário.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4953000"/>
            <a:ext cx="2806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E09CF"/>
                </a:solidFill>
                <a:latin typeface="Nunito Sans"/>
                <a:ea typeface="Nunito Sans"/>
                <a:cs typeface="Nunito Sans"/>
                <a:sym typeface="Nunito Sans"/>
              </a:rPr>
              <a:t>⚡ Experiência Fragmentada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22382" y="341947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Ponto Cego SF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92550" y="3838575"/>
            <a:ext cx="28067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Vendedores não são notificados de novos agendamentos no CRM. O lead esfria enquanto o time comercial desconhece o evento.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92550" y="4953000"/>
            <a:ext cx="28067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E09CF"/>
                </a:solidFill>
                <a:latin typeface="Nunito Sans"/>
                <a:ea typeface="Nunito Sans"/>
                <a:cs typeface="Nunito Sans"/>
                <a:sym typeface="Nunito Sans"/>
              </a:rPr>
              <a:t>⚡ Visibilidade Zero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00685" y="341947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Fadiga de Funil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0850" y="3838575"/>
            <a:ext cx="2806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Fluxos de qualificação lineares e longos causam 60-70% de abandono. Perguntas estáticas afastam leads de alta qualidade.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70850" y="4953000"/>
            <a:ext cx="2806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E09CF"/>
                </a:solidFill>
                <a:latin typeface="Nunito Sans"/>
                <a:ea typeface="Nunito Sans"/>
                <a:cs typeface="Nunito Sans"/>
                <a:sym typeface="Nunito Sans"/>
              </a:rPr>
              <a:t>⚡ Taxa de Desistência Alta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6250" y="26193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6193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6975" y="26193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Diagnóstico: Os 3 Desafios Críticos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42975" y="2643187"/>
            <a:ext cx="4867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Zenvia NLU (Zoe):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Orquestra a interface conversacional via WhatsApp com fluxo de  NLU.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42913" y="4214837"/>
            <a:ext cx="486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42913" y="3395937"/>
            <a:ext cx="48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Zapier / n8n: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Atua como o sistema nervoso, conectando eventos de calendário ao CRM Salesforce e responde a ZOE.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33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32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Arquitetura: Ecossistema Integrado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942913" y="4494887"/>
            <a:ext cx="4867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Gemini API: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Processa a qualificação dinâmica e extrai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intenções complexas em tempo real.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29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52387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28900"/>
            <a:ext cx="52387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952500" y="3009900"/>
            <a:ext cx="47005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F4444"/>
                </a:solidFill>
                <a:latin typeface="Exo 2"/>
                <a:ea typeface="Exo 2"/>
                <a:cs typeface="Exo 2"/>
                <a:sym typeface="Exo 2"/>
              </a:rPr>
              <a:t>❌ Situação Atual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3381375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Zoe: "Aqui o link! 📅"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Zoe: "Você recebeu o invite?"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Lead: "...Acabei de receber o link agora 😕"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52500" y="438150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Resultado: Redundância e sensação de bot "burro".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62750" y="3009900"/>
            <a:ext cx="47005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C55E"/>
                </a:solidFill>
                <a:latin typeface="Exo 2"/>
                <a:ea typeface="Exo 2"/>
                <a:cs typeface="Exo 2"/>
                <a:sym typeface="Exo 2"/>
              </a:rPr>
              <a:t>✅ Solução Proposta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877050" y="33528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53250" y="3381375"/>
            <a:ext cx="428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Webhook de Estado: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Registro automático de "invite_sent".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877050" y="36576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953250" y="3686175"/>
            <a:ext cx="4286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Transição Silenciosa: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Avanço de nó sem requerer input do lead.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877050" y="41719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953250" y="4200525"/>
            <a:ext cx="4286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Fallback Inteligente: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Reenvio contextual apenas se o link não for aberto em 30 min.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Solução A: UX sem Amnésia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600"/>
            <a:ext cx="4953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457700"/>
            <a:ext cx="43815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857250" y="2800350"/>
            <a:ext cx="46005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Fim do Ponto Cego no Salesforce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57250" y="3190875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Utilizando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 Webhooks de n8</a:t>
            </a:r>
            <a:r>
              <a:rPr b="1" lang="en-US" sz="1350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n</a:t>
            </a:r>
            <a:r>
              <a:rPr b="0" i="0" lang="en-US" sz="135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, detectamos o agendamento no Calendly e disparamos alertas imediatos via Salesforce e E-mail para o dono do registro.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57250" y="46577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Nunito Sans"/>
                <a:ea typeface="Nunito Sans"/>
                <a:cs typeface="Nunito Sans"/>
                <a:sym typeface="Nunito Sans"/>
              </a:rPr>
              <a:t>🔔 Conteúdo da Notificação: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57250" y="4991100"/>
            <a:ext cx="438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"Olá [Vendedor], seu cliente João Silva agendou uma reunião para 15/06 às 14h. Clique aqui para ver no CRM."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62000" y="571500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Solução B: Visibilidade Total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571500"/>
            <a:ext cx="76200" cy="95250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50" y="1154400"/>
            <a:ext cx="11458076" cy="47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0" y="0"/>
            <a:ext cx="6196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Exemplo de implementação via n8n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6381750" y="27336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Inteligência sem Atrito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81750" y="295275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Substituímos o formulário estático de 7 perguntas por uma conversa adaptativa processada pelo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Gemini</a:t>
            </a:r>
            <a:r>
              <a:rPr b="0" i="0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667500" y="371475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Coleta Multimodal: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Nome e empresa capturados em uma única frase.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67500" y="4067175"/>
            <a:ext cx="495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Inferência de Dados: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IA deduz segmento e cargo via enriquecimento (</a:t>
            </a:r>
            <a:r>
              <a:rPr lang="en-US" sz="1200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com T</a:t>
            </a:r>
            <a:r>
              <a:rPr lang="en-US" sz="1200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ools de consulta</a:t>
            </a:r>
            <a:r>
              <a:rPr lang="en-US" sz="1200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, por exemplo “linkedIn e Email”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).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67500" y="462915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Lead Scoring: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Nunito Sans"/>
                <a:ea typeface="Nunito Sans"/>
                <a:cs typeface="Nunito Sans"/>
                <a:sym typeface="Nunito Sans"/>
              </a:rPr>
              <a:t> Classificação automática em Hot, Warm ou Cold.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7623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1148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7677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Solução C: Qualificação 2.0 com Gemini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571500" y="3186112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10733" y="3471862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01. Início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3795712"/>
            <a:ext cx="2430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Lead inicia na ZOE informando Nome e Empresa</a:t>
            </a:r>
            <a:r>
              <a:rPr lang="en-US" sz="1125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256138" y="3471862"/>
            <a:ext cx="255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0</a:t>
            </a:r>
            <a:r>
              <a:rPr b="1" lang="en-US" sz="1500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. Processamento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16868" y="3795712"/>
            <a:ext cx="2430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Gemini analisa intenção e extrai dados corporativos.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295944" y="3471850"/>
            <a:ext cx="255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0</a:t>
            </a:r>
            <a:r>
              <a:rPr b="1" lang="en-US" sz="1500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. Adaptação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522260" y="3793575"/>
            <a:ext cx="2430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Zoe faz um p</a:t>
            </a:r>
            <a:r>
              <a:rPr b="0" i="0" lang="en-US" sz="112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ergunta única: "Qual seu maior desafio hoje?"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28774" y="3471862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04. Handoff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189541" y="3795712"/>
            <a:ext cx="243066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Score definido e contexto enviado ao Salesforce.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1672530" y="30027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8E09C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457710" y="30027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8E09C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321541" y="30027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8E09C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0185396" y="30027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8E09C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Fluxo de Qualificação Inteligente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71500" y="48577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Dados baseados em projeções de eficiência da automação e IA generativa.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Métricas: Como Medir o Sucesso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9700" y="1762043"/>
            <a:ext cx="5500800" cy="400058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2743200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Fase 1: Quick Wins (Sem 1-2)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297180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Correção lógica da Zoe (A) e Webhook Calendly básico.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3486150"/>
            <a:ext cx="55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Fase 2: Integração Core (Sem </a:t>
            </a:r>
            <a:r>
              <a:rPr b="1" lang="en-US" sz="1500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- </a:t>
            </a:r>
            <a:r>
              <a:rPr b="1" lang="en-US" sz="1500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)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371475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Notificações Salesforce (B) e Implementação Apps Script.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571500" y="4229100"/>
            <a:ext cx="55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Fase 3: IA &amp; Otimização (Sem 6-</a:t>
            </a:r>
            <a:r>
              <a:rPr b="1" lang="en-US" sz="1500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  <a:r>
              <a:rPr b="1" i="0" lang="en-US" sz="1500" u="none" cap="none" strike="noStrike">
                <a:solidFill>
                  <a:srgbClr val="EC0886"/>
                </a:solidFill>
                <a:latin typeface="Exo 2"/>
                <a:ea typeface="Exo 2"/>
                <a:cs typeface="Exo 2"/>
                <a:sym typeface="Exo 2"/>
              </a:rPr>
              <a:t>)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445770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Integração Gemini API (C) e Scoring Automático.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Roadmap de Implementação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2168"/>
            <a:ext cx="3492400" cy="2738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12168"/>
            <a:ext cx="3492549" cy="2738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112168"/>
            <a:ext cx="3492400" cy="273843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844234" y="3359943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Zoe Memória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914400" y="3779043"/>
            <a:ext cx="28066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Estado de sessão e transição automática para um fluxo sem redundâncias.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4622382" y="3359943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Vendedor Alerta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692550" y="3779043"/>
            <a:ext cx="2806749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Fim do ponto cego com notificações em tempo real integradas ao Salesforce.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8400685" y="3359943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IA Conversacional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470850" y="3779043"/>
            <a:ext cx="28066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Gemini transformando qualificação chata em conversão fluida e inteligente.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5598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255984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125" y="2559843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Resumo: A Zoe que Queremos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EC08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E09CF"/>
                </a:solidFill>
                <a:latin typeface="Exo 2"/>
                <a:ea typeface="Exo 2"/>
                <a:cs typeface="Exo 2"/>
                <a:sym typeface="Exo 2"/>
              </a:rPr>
              <a:t>Perguntas?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571500" y="1676400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C0886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Discussão e Próximos Passos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26061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4651400" y="3272925"/>
            <a:ext cx="28449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5563"/>
                </a:solidFill>
                <a:latin typeface="Nunito Sans"/>
                <a:ea typeface="Nunito Sans"/>
                <a:cs typeface="Nunito Sans"/>
                <a:sym typeface="Nunito Sans"/>
              </a:rPr>
              <a:t>rodrigo.rosales@zenvia.com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486525" y="3286125"/>
            <a:ext cx="100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28157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5150" y="282892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