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371600"/>
            <a:ext cx="1371600" cy="3771900"/>
          </a:xfrm>
          <a:prstGeom prst="rect">
            <a:avLst/>
          </a:prstGeom>
          <a:solidFill>
            <a:srgbClr val="1E2F6B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Modernização da Zoe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Enterprise · Salesforce &amp; Ecossistema de Integração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desafios críticos. Uma arquitetura integrada.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técnica e estratégica de evolução da experiência de vendas.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· 30–45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42976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43159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· Zenvia · Salesforce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Apresentação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1143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e Diagnóstico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desafios críticos da Zoe atual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502920" cy="1143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0332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Proposta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435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ferramentas se conectam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502920" cy="1143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591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A – UX sem Amnésia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61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redundância no fluxo de diálogo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86000"/>
            <a:ext cx="502920" cy="1143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3591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B – Visibilidade Comercial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761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para o vendedor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502920" cy="1143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6850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 2.0 com 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873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lógica condicional sem atrito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502920" cy="1143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6850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&amp; Roadmap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0873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 sucesso e cronograma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Os 3 Desafios Críticos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Amnésia da Zoe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enviar o link do Calendly, o bot pergunta "Você recebeu o invite?". O sistema não reconhece que o envio do link encerra aquela etapa do fluxo — gerando redundância e estranheza para o usuário.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4206240"/>
            <a:ext cx="2468880" cy="5029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Experiência fragmentada, perda de confiança no bot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Cego no Salesforce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integração nativa Calendly + Salesforce atualiza leads/contatos existentes, mas não notifica o dono do registro. O vendedor só descobre o agendamento se abrir o calendário ou o CRM manualmente.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4206240"/>
            <a:ext cx="2468880" cy="5029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Visibilidade zero, oportunidades perdidas na base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274320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solidFill>
            <a:srgbClr val="2A3F85"/>
          </a:solidFill>
          <a:ln w="12700">
            <a:solidFill>
              <a:srgbClr val="2A3F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de Qualificação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011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perguntas é estático, longo e linear. Alta taxa de abandono, especialmente fora do horário comercial. Leads qualificados não chegam ao vendedor por desistência no funil.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4206240"/>
            <a:ext cx="2468880" cy="502920"/>
          </a:xfrm>
          <a:prstGeom prst="rect">
            <a:avLst/>
          </a:prstGeom>
          <a:solidFill>
            <a:srgbClr val="2A3F85">
              <a:alpha val="15000"/>
            </a:srgbClr>
          </a:solidFill>
          <a:ln w="12700">
            <a:solidFill>
              <a:srgbClr val="2A3F85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Alta taxa de abandono, leads quentes perdidos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Proposta · Ecossistema Integrado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05840"/>
            <a:ext cx="18288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Zenvia / Zoe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+ NLU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2194560"/>
            <a:ext cx="1828800" cy="1005840"/>
          </a:xfrm>
          <a:prstGeom prst="rect">
            <a:avLst/>
          </a:prstGeom>
          <a:solidFill>
            <a:srgbClr val="2A3F85"/>
          </a:solidFill>
          <a:ln w="12700">
            <a:solidFill>
              <a:srgbClr val="2A3F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Conversacional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508760"/>
            <a:ext cx="19202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/ n8n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057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 de Fluxos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18288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182880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&amp; Lógica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508760"/>
            <a:ext cx="1965960" cy="1005840"/>
          </a:xfrm>
          <a:prstGeom prst="rect">
            <a:avLst/>
          </a:prstGeom>
          <a:solidFill>
            <a:srgbClr val="1E2F6B"/>
          </a:solidFill>
          <a:ln w="12700">
            <a:solidFill>
              <a:srgbClr val="1E2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0574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&amp; Notif.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57400" y="1508760"/>
            <a:ext cx="365760" cy="0"/>
          </a:xfrm>
          <a:prstGeom prst="line">
            <a:avLst/>
          </a:prstGeom>
          <a:solidFill>
            <a:srgbClr val="02C39A"/>
          </a:solidFill>
          <a:ln w="31750">
            <a:solidFill>
              <a:srgbClr val="02C39A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2057400" y="2697480"/>
            <a:ext cx="365760" cy="0"/>
          </a:xfrm>
          <a:prstGeom prst="line">
            <a:avLst/>
          </a:prstGeom>
          <a:solidFill>
            <a:srgbClr val="02C39A"/>
          </a:solidFill>
          <a:ln w="31750">
            <a:solidFill>
              <a:srgbClr val="02C39A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4343400" y="1508760"/>
            <a:ext cx="365760" cy="0"/>
          </a:xfrm>
          <a:prstGeom prst="line">
            <a:avLst/>
          </a:prstGeom>
          <a:solidFill>
            <a:srgbClr val="02C39A"/>
          </a:solidFill>
          <a:ln w="31750">
            <a:solidFill>
              <a:srgbClr val="02C39A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6537960" y="2011680"/>
            <a:ext cx="365760" cy="0"/>
          </a:xfrm>
          <a:prstGeom prst="line">
            <a:avLst/>
          </a:prstGeom>
          <a:solidFill>
            <a:srgbClr val="02C39A"/>
          </a:solidFill>
          <a:ln w="31750">
            <a:solidFill>
              <a:srgbClr val="02C39A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6537960" y="2697480"/>
            <a:ext cx="365760" cy="0"/>
          </a:xfrm>
          <a:prstGeom prst="line">
            <a:avLst/>
          </a:prstGeom>
          <a:solidFill>
            <a:srgbClr val="02C39A"/>
          </a:solidFill>
          <a:ln w="31750">
            <a:solidFill>
              <a:srgbClr val="02C39A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Usuário interage com a Zoe no WhatsApp/Web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7764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Gemini processa a qualificação e retorna intenção estruturada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123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Zapier/n8n orquestra os eventos (agendamento, notificação, CRM)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47141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Apps Script dispara webhook de confirmação e alerta o vendedor no Salesforce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A · Eliminando a Amnésia da Zoe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Situação Atual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200400" cy="594360"/>
          </a:xfrm>
          <a:prstGeom prst="roundRect">
            <a:avLst>
              <a:gd name="adj" fmla="val 15385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Zoe: "Aqui está o link do Calendly! 📅"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3200400" cy="594360"/>
          </a:xfrm>
          <a:prstGeom prst="roundRect">
            <a:avLst>
              <a:gd name="adj" fmla="val 15385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Zoe: "Você recebeu o invite?"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3200400" cy="594360"/>
          </a:xfrm>
          <a:prstGeom prst="roundRect">
            <a:avLst>
              <a:gd name="adj" fmla="val 15385"/>
            </a:avLst>
          </a:prstGeom>
          <a:solidFill>
            <a:srgbClr val="CBD5E1"/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17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"...Acabei de receber o link agora 😕"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o bot não sabe que o envio do link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concluiu a etapa. Gera redundância e estranheza.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36576" cy="3931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 Proposta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38988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disparo: ao enviar o link Calendly, a Zoe aciona um webhook que registra o estado "invite_sent" no contexto da sessão.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22199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19456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etapa: o fluxo avança automaticamente para o próximo nó sem aguardar input do usuário.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02666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99923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confirmação proativa: "Enviei o link no seu WhatsApp! Qualquer dúvida, estou aqui 😊" — sem pergunta.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83133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80390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inteligente: se o lead não abrir o link em 30 min, a Zoe reenvia automaticamente com uma mensagem contextual.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480560"/>
            <a:ext cx="4206240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480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Ferramentas: Zenvia Flows · Zapier Webhook · Estado de Sessão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B · Visibilidade Comercial – Fim do Ponto Cego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Proposto de Notificação Automática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50876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20116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Calendly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2057400"/>
            <a:ext cx="274320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417320"/>
            <a:ext cx="1508760" cy="1280160"/>
          </a:xfrm>
          <a:prstGeom prst="rect">
            <a:avLst/>
          </a:prstGeom>
          <a:solidFill>
            <a:srgbClr val="2A3F85"/>
          </a:solidFill>
          <a:ln w="12700">
            <a:solidFill>
              <a:srgbClr val="2A3F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2057400"/>
            <a:ext cx="274320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1417320"/>
            <a:ext cx="150876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94760" y="20116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detecta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2057400"/>
            <a:ext cx="274320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417320"/>
            <a:ext cx="1508760" cy="1280160"/>
          </a:xfrm>
          <a:prstGeom prst="rect">
            <a:avLst/>
          </a:prstGeom>
          <a:solidFill>
            <a:srgbClr val="1E2F6B"/>
          </a:solidFill>
          <a:ln w="12700">
            <a:solidFill>
              <a:srgbClr val="1E2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0" y="20116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dono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Salesforce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2057400"/>
            <a:ext cx="274320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1417320"/>
            <a:ext cx="150876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6092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20116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vendedor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 + SF Chatter)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da Notificação para o Vendedor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246120"/>
            <a:ext cx="4023360" cy="384048"/>
          </a:xfrm>
          <a:prstGeom prst="rect">
            <a:avLst/>
          </a:prstGeom>
          <a:solidFill>
            <a:srgbClr val="1E2F6B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46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E-mail / Salesforce Chatter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7033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Assunto: </a:t>
            </a:r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confirmado – João Silva (Cliente Base)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Data/Hora: </a:t>
            </a:r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15/06 às 14h | Reunião de Expansão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registro no Salesforce ↗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2461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246120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46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Push / WhatsApp (Opcional)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7033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"Olá [Vendedor], seu cliente João Silva acabou de agendar
</a:t>
            </a:r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reunião para 15/06 às 14h.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para ver o registro no Salesforce."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3F85"/>
          </a:solidFill>
          <a:ln w="12700">
            <a:solidFill>
              <a:srgbClr val="2A3F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C · Qualificação 2.0 – IA sem Atrito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 Atual 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1: Qual seu nome?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2: Qual sua empresa?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41148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48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3: Qual seu cargo?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4: Quantos funcionários?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71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5: Qual seu segmento?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6: Você já usa algum CRM?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41148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94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7: Qual sua necessidade?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4114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06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Abandono: ~60–70% dos leads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 2.0 com Gemini 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1148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325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nome + empresa em 1 mensagem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73736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infere segmento pelo LinkedIn/email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148840"/>
            <a:ext cx="41148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148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adaptativas (só 2–3 no máximo)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56032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60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 implícita via NLU (intenção)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971800"/>
            <a:ext cx="41148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971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fora do comercial: qualifica e agenda direto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38328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automático: Hot / Warm / Cold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794760"/>
            <a:ext cx="4114800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794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Meta: reduzir abandono em 40%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2A3F85">
              <a:alpha val="10000"/>
            </a:srgbClr>
          </a:solidFill>
          <a:ln w="12700">
            <a:solidFill>
              <a:srgbClr val="2A3F85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3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Stack: Gemini API (intent detection) · Zenvia NLU · Zapier condicional · Enriquecimento via Clearbit/LinkedIn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 Ação · Fluxo de Qualificação Inteligente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3385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inicia conversa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075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"Oi, quero saber mais sobre a plataforma"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2A3F85">
              <a:alpha val="15000"/>
            </a:srgbClr>
          </a:solidFill>
          <a:ln w="12700">
            <a:solidFill>
              <a:srgbClr val="2A3F8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11096"/>
            <a:ext cx="347472" cy="347472"/>
          </a:xfrm>
          <a:prstGeom prst="ellipse">
            <a:avLst/>
          </a:prstGeom>
          <a:solidFill>
            <a:srgbClr val="2A3F85"/>
          </a:solidFill>
          <a:ln w="12700">
            <a:solidFill>
              <a:srgbClr val="2A3F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processa contexto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084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intenção, tom e dados disponíveis (ex: domínio de e-mail corporativo)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8833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560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adaptativas (máx. 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8620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 o principal desafio que você quer resolver?" + "Empresa de qual porte?"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46557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 roteamento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6393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→ agenda direto · Warm → nurture · Cold → conteúdo automático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2428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114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para o Vendedor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416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completo enviado ao Salesforce + notificação imediata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Sucesso · Como Medir o Impacto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Abandono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~65%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&lt; 35%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920240"/>
            <a:ext cx="685800" cy="5029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47%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2788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058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417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até 1ª Resp. Vendedor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&gt; 4h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&lt; 15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1920240"/>
            <a:ext cx="685800" cy="5029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94%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05840"/>
            <a:ext cx="2788920" cy="347472"/>
          </a:xfrm>
          <a:prstGeom prst="rect">
            <a:avLst/>
          </a:prstGeom>
          <a:solidFill>
            <a:srgbClr val="2A3F85"/>
          </a:solidFill>
          <a:ln w="12700">
            <a:solidFill>
              <a:srgbClr val="2A3F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0058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1417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 no Chatbot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1828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Frequente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Zero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83880" y="1920240"/>
            <a:ext cx="685800" cy="502920"/>
          </a:xfrm>
          <a:prstGeom prst="rect">
            <a:avLst/>
          </a:prstGeom>
          <a:solidFill>
            <a:srgbClr val="2A3F85">
              <a:alpha val="15000"/>
            </a:srgbClr>
          </a:solidFill>
          <a:ln w="12700">
            <a:solidFill>
              <a:srgbClr val="2A3F85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3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100%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26080"/>
            <a:ext cx="27889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Qualificados/dia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749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Baseline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+40%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40280" y="3840480"/>
            <a:ext cx="685800" cy="5029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3840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40%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29260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926080"/>
            <a:ext cx="2788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 Detectados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3749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Manual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100% Auto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3840480"/>
            <a:ext cx="685800" cy="50292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840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100%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0" y="29260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926080"/>
            <a:ext cx="2788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Lead → Reunião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3749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Baseline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+25%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83880" y="3840480"/>
            <a:ext cx="685800" cy="50292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3840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25%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Implementação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2057400" cy="397764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914400"/>
            <a:ext cx="2057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417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1737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22402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Corrigir lógica de estado da Zoe (Desafio 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2926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Configurar webhook Calendly → Zapier → E-mail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" y="36118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Mapear fluxo atual de qualificação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14016" y="914400"/>
            <a:ext cx="2057400" cy="3977640"/>
          </a:xfrm>
          <a:prstGeom prst="rect">
            <a:avLst/>
          </a:prstGeom>
          <a:solidFill>
            <a:srgbClr val="2A3F85">
              <a:alpha val="10000"/>
            </a:srgbClr>
          </a:solidFill>
          <a:ln w="12700">
            <a:solidFill>
              <a:srgbClr val="2A3F85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14016" y="914400"/>
            <a:ext cx="2057400" cy="457200"/>
          </a:xfrm>
          <a:prstGeom prst="rect">
            <a:avLst/>
          </a:prstGeom>
          <a:solidFill>
            <a:srgbClr val="2A3F85"/>
          </a:solidFill>
          <a:ln w="12700">
            <a:solidFill>
              <a:srgbClr val="2A3F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14016" y="1417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A3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14016" y="1737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3744" y="22402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Desenvolver notificação Salesforce (Desafio 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23744" y="2926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Implementar Apps Script para alertas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23744" y="36118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Testes A/B do novo fluxo de qualificação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914400"/>
            <a:ext cx="2057400" cy="397764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914400"/>
            <a:ext cx="20574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26864" y="1417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6–9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26864" y="1737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Otimização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22402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Integrar Gemini API para qualificação inteligente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6592" y="2926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Scoring automático de leads (Hot/Warm/Cold)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36118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de métricas em tempo real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39712" y="914400"/>
            <a:ext cx="2057400" cy="3977640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9712" y="914400"/>
            <a:ext cx="20574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39712" y="1417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10+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39712" y="1737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Refinamento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22402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Ajustes com base em dados reais de uso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2926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Expansão para outros canais (Web, Instagram)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36118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Documentação e treinamento do time comercial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" y="4709160"/>
            <a:ext cx="87325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38428" y="4663440"/>
            <a:ext cx="182880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51276" y="4663440"/>
            <a:ext cx="182880" cy="256032"/>
          </a:xfrm>
          <a:prstGeom prst="ellipse">
            <a:avLst/>
          </a:prstGeom>
          <a:solidFill>
            <a:srgbClr val="2A3F85"/>
          </a:solidFill>
          <a:ln w="12700">
            <a:solidFill>
              <a:srgbClr val="2A3F8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64124" y="4663440"/>
            <a:ext cx="182880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6972" y="4663440"/>
            <a:ext cx="182880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" y="4892040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                 Semana 3                  Semana 6                 Semana 10+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Proposta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219456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sessão + transição automática = Zoe sem amnésia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97480" cy="219456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Zapier + Salesforce = vendedor sempre notificado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97480" cy="2194560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6974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5508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qualificação adaptativa = menos perguntas, mais conversões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Zoe que queremos é aquela que lembra, avisa e qualifica — sem cansar o lead e sem deixar o vendedor no escuro."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· Perguntas e discussão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Modernização da Zoe – NLU Enterprise</dc:title>
  <dc:subject>PptxGenJS Presentation</dc:subject>
  <dc:creator>Candidato</dc:creator>
  <cp:lastModifiedBy>Candidato</cp:lastModifiedBy>
  <cp:revision>1</cp:revision>
  <dcterms:created xsi:type="dcterms:W3CDTF">2026-05-13T05:01:06Z</dcterms:created>
  <dcterms:modified xsi:type="dcterms:W3CDTF">2026-05-13T05:01:06Z</dcterms:modified>
</cp:coreProperties>
</file>